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59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9500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E6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7468"/>
          </a:xfrm>
          <a:prstGeom prst="rect">
            <a:avLst/>
          </a:prstGeom>
          <a:solidFill>
            <a:srgbClr val="E65C07"/>
          </a:solidFill>
          <a:ln w="12700">
            <a:solidFill>
              <a:srgbClr val="E65C0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6861"/>
            <a:ext cx="12191695" cy="25120"/>
          </a:xfrm>
          <a:prstGeom prst="rect">
            <a:avLst/>
          </a:prstGeom>
          <a:solidFill>
            <a:srgbClr val="1B2828"/>
          </a:solidFill>
          <a:ln w="12700">
            <a:solidFill>
              <a:srgbClr val="1B2828"/>
            </a:solidFill>
            <a:prstDash val="solid"/>
          </a:ln>
        </p:spPr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645" y="837342"/>
            <a:ext cx="485658" cy="5191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1590949"/>
            <a:ext cx="12191695" cy="3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طبِ نجات • Zindigi Prize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0" y="1884019"/>
            <a:ext cx="12191695" cy="100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0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TIB-E-NIJAT</a:t>
            </a:r>
            <a:endParaRPr lang="en-US" sz="8600" dirty="0"/>
          </a:p>
        </p:txBody>
      </p:sp>
      <p:sp>
        <p:nvSpPr>
          <p:cNvPr id="7" name="Text 4"/>
          <p:cNvSpPr txBox="1"/>
          <p:nvPr/>
        </p:nvSpPr>
        <p:spPr>
          <a:xfrm>
            <a:off x="0" y="2930696"/>
            <a:ext cx="12191695" cy="30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Camera-based vital signs screening for every neighborhood pharmacy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0" y="3282379"/>
            <a:ext cx="12191695" cy="28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Ahmad Ali  ·  Sachin Kumar  ·  Muhammad Uzair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0" y="3826652"/>
            <a:ext cx="12191695" cy="2512025"/>
          </a:xfrm>
          <a:prstGeom prst="rect">
            <a:avLst/>
          </a:prstGeom>
          <a:solidFill>
            <a:srgbClr val="E65C07"/>
          </a:solidFill>
          <a:ln w="12700">
            <a:solidFill>
              <a:srgbClr val="E65C07"/>
            </a:solidFill>
            <a:prstDash val="solid"/>
          </a:ln>
        </p:spPr>
      </p:sp>
      <p:pic>
        <p:nvPicPr>
          <p:cNvPr id="10" name="Image 1" descr="il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544" y="3684303"/>
            <a:ext cx="9713164" cy="280509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6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925886" cy="6857829"/>
          </a:xfrm>
          <a:prstGeom prst="rect">
            <a:avLst/>
          </a:prstGeom>
          <a:solidFill>
            <a:srgbClr val="E65C07"/>
          </a:solidFill>
          <a:ln w="12700">
            <a:solidFill>
              <a:srgbClr val="E65C0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0"/>
            <a:ext cx="1925886" cy="68578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R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B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L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E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428291" y="753608"/>
            <a:ext cx="8875822" cy="2512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Pakistan has fewer than </a:t>
            </a:r>
            <a:r>
              <a:rPr lang="en-US" sz="32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280,000 doctors</a:t>
            </a:r>
            <a:r>
              <a:rPr lang="en-US" sz="32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 for </a:t>
            </a:r>
            <a:r>
              <a:rPr lang="en-US" sz="32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240 million people</a:t>
            </a:r>
            <a:r>
              <a:rPr lang="en-US" sz="32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2428291" y="3935506"/>
            <a:ext cx="8875822" cy="770354"/>
          </a:xfrm>
          <a:prstGeom prst="rect">
            <a:avLst/>
          </a:prstGeom>
          <a:solidFill>
            <a:srgbClr val="E65C07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basic vitals check can mean hours of travel and waiting.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428291" y="4856582"/>
            <a:ext cx="8875822" cy="770354"/>
          </a:xfrm>
          <a:prstGeom prst="rect">
            <a:avLst/>
          </a:prstGeom>
          <a:solidFill>
            <a:srgbClr val="E65C07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Many people skip checks until they are seriously ill.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6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925886" cy="6857829"/>
          </a:xfrm>
          <a:prstGeom prst="rect">
            <a:avLst/>
          </a:prstGeom>
          <a:solidFill>
            <a:srgbClr val="E65C07"/>
          </a:solidFill>
          <a:ln w="12700">
            <a:solidFill>
              <a:srgbClr val="E65C0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0"/>
            <a:ext cx="1925886" cy="68578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L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U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I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428291" y="753608"/>
            <a:ext cx="8875822" cy="2512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30-second screening with a tablet camera.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2428291" y="3433101"/>
            <a:ext cx="8875822" cy="770354"/>
          </a:xfrm>
          <a:prstGeom prst="rect">
            <a:avLst/>
          </a:prstGeom>
          <a:solidFill>
            <a:srgbClr val="E65C07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Look at the camera: pulse, HRV, and breathing.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428291" y="4354177"/>
            <a:ext cx="8875822" cy="770354"/>
          </a:xfrm>
          <a:prstGeom prst="rect">
            <a:avLst/>
          </a:prstGeom>
          <a:solidFill>
            <a:srgbClr val="E65C07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clear result: Normal, Monitor, or See a Doctor.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428291" y="5275253"/>
            <a:ext cx="8875822" cy="770354"/>
          </a:xfrm>
          <a:prstGeom prst="rect">
            <a:avLst/>
          </a:prstGeom>
          <a:solidFill>
            <a:srgbClr val="E65C07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screening tool that refers you to a doctor.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5C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25601"/>
            <a:ext cx="12191695" cy="100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EFE6E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HOW IT WORKS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0" y="1549082"/>
            <a:ext cx="12191695" cy="25120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pic>
        <p:nvPicPr>
          <p:cNvPr id="4" name="Image 0" descr="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7639" y="1800285"/>
            <a:ext cx="1858899" cy="167468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86139" y="3600569"/>
            <a:ext cx="3181898" cy="418671"/>
          </a:xfrm>
          <a:prstGeom prst="rect">
            <a:avLst/>
          </a:prstGeom>
          <a:solidFill>
            <a:srgbClr val="EFE6E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Heart Rate &amp; HRV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86139" y="4186709"/>
            <a:ext cx="3181898" cy="75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skin color changes reveal each heartbeat.</a:t>
            </a:r>
            <a:endParaRPr lang="en-US" sz="1900" dirty="0"/>
          </a:p>
        </p:txBody>
      </p:sp>
      <p:pic>
        <p:nvPicPr>
          <p:cNvPr id="7" name="Image 1" descr="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626" y="1800285"/>
            <a:ext cx="1624443" cy="167468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04898" y="3600569"/>
            <a:ext cx="3181898" cy="418671"/>
          </a:xfrm>
          <a:prstGeom prst="rect">
            <a:avLst/>
          </a:prstGeom>
          <a:solidFill>
            <a:srgbClr val="EFE6E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Breathing &amp; Stress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504898" y="4186709"/>
            <a:ext cx="3181898" cy="75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Chest movement and heart rhythm show breathing and stress.</a:t>
            </a:r>
            <a:endParaRPr lang="en-US" sz="1900" dirty="0"/>
          </a:p>
        </p:txBody>
      </p:sp>
      <p:pic>
        <p:nvPicPr>
          <p:cNvPr id="10" name="Image 2" descr="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7901" y="1800285"/>
            <a:ext cx="2453411" cy="167468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23658" y="3600569"/>
            <a:ext cx="3181898" cy="418671"/>
          </a:xfrm>
          <a:prstGeom prst="rect">
            <a:avLst/>
          </a:prstGeom>
          <a:solidFill>
            <a:srgbClr val="EFE6E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Triage Result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8423658" y="4186709"/>
            <a:ext cx="3181898" cy="75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traffic-light result, with doctor referral when needed.</a:t>
            </a:r>
            <a:endParaRPr lang="en-US" sz="1900" dirty="0"/>
          </a:p>
        </p:txBody>
      </p:sp>
      <p:sp>
        <p:nvSpPr>
          <p:cNvPr id="13" name="Text 8"/>
          <p:cNvSpPr txBox="1"/>
          <p:nvPr/>
        </p:nvSpPr>
        <p:spPr>
          <a:xfrm>
            <a:off x="921076" y="5484588"/>
            <a:ext cx="10349543" cy="1004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Confidence meter asks for a retake in poor light.   Low-light mode: fingertip and flash.   Target: within 2 BPM of ECG, to be confirmed in our trial.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5C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7474" y="0"/>
            <a:ext cx="25120" cy="5610189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pic>
        <p:nvPicPr>
          <p:cNvPr id="3" name="Image 0" descr="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417" y="770354"/>
            <a:ext cx="4320683" cy="430393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5610189"/>
            <a:ext cx="12191695" cy="1247639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0" y="5652056"/>
            <a:ext cx="12191695" cy="1172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dirty="0">
                <a:solidFill>
                  <a:srgbClr val="E65C07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TARGET MARKET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586139" y="795475"/>
            <a:ext cx="5024050" cy="452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EFE6E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Patients</a:t>
            </a:r>
            <a:endParaRPr lang="en-US" sz="2600" dirty="0"/>
          </a:p>
          <a:p>
            <a:pPr marL="0" indent="0">
              <a:buNone/>
            </a:pPr>
            <a:r>
              <a:rPr lang="en-US" sz="22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Families who want a quick, low-cost health check.</a:t>
            </a:r>
            <a:endParaRPr lang="en-US" sz="2600" dirty="0"/>
          </a:p>
          <a:p>
            <a:pPr marL="0" indent="0">
              <a:spcBef>
                <a:spcPts val="2400"/>
              </a:spcBef>
              <a:buNone/>
            </a:pPr>
            <a:r>
              <a:rPr lang="en-US" sz="2600" b="1" dirty="0">
                <a:solidFill>
                  <a:srgbClr val="EFE6E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Customers</a:t>
            </a:r>
            <a:endParaRPr lang="en-US" sz="2600" dirty="0"/>
          </a:p>
          <a:p>
            <a:pPr marL="0" indent="0">
              <a:buNone/>
            </a:pPr>
            <a:r>
              <a:rPr lang="en-US" sz="22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Pharmacy owners who earn extra income and attract walk-ins.</a:t>
            </a:r>
            <a:endParaRPr lang="en-US" sz="2600" dirty="0"/>
          </a:p>
          <a:p>
            <a:pPr marL="0" indent="0">
              <a:spcBef>
                <a:spcPts val="2400"/>
              </a:spcBef>
              <a:buNone/>
            </a:pPr>
            <a:r>
              <a:rPr lang="en-US" sz="2600" b="1" dirty="0">
                <a:solidFill>
                  <a:srgbClr val="EFE6E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Where we start</a:t>
            </a:r>
            <a:endParaRPr lang="en-US" sz="2600" dirty="0"/>
          </a:p>
          <a:p>
            <a:pPr marL="0" indent="0">
              <a:buNone/>
            </a:pPr>
            <a:r>
              <a:rPr lang="en-US" sz="22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Tier 2 and 3 cities and towns, beginning in our own native villages, then scaling on real data.</a:t>
            </a:r>
            <a:endParaRPr lang="en-US" sz="2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5C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25601"/>
            <a:ext cx="12191695" cy="100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EFE6E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COMPETITIVE ANALYSIS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0" y="1339747"/>
            <a:ext cx="12191695" cy="25120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1076" y="1632816"/>
          <a:ext cx="10349544" cy="3383280"/>
        </p:xfrm>
        <a:graphic>
          <a:graphicData uri="http://schemas.openxmlformats.org/drawingml/2006/table">
            <a:tbl>
              <a:tblPr/>
              <a:tblGrid>
                <a:gridCol w="32656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93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345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Alternative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Limitation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Tib-e-Nijat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ECG carts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Costly, needs trained staff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Just a tablet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BP machines, oximeters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One measure, no referral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Several vitals, with referral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Doctor apps (Oladoc, Marham)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No vitals before the call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Partners: we give doctors the vitals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921076" y="5777658"/>
            <a:ext cx="10349543" cy="75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Our edge: low cost, simple at the counter, connected to doctors.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65C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25601"/>
            <a:ext cx="12191695" cy="100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EFE6E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CHALLENGES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0" y="1339747"/>
            <a:ext cx="12191695" cy="25120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1076" y="1632816"/>
          <a:ext cx="10349543" cy="4123944"/>
        </p:xfrm>
        <a:graphic>
          <a:graphicData uri="http://schemas.openxmlformats.org/drawingml/2006/table">
            <a:tbl>
              <a:tblPr/>
              <a:tblGrid>
                <a:gridCol w="3600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89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Challenge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Our answer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Poor lighting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Fingertip-and-flash mode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Skin tones and devices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Diverse trial; weak scans trigger a retake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Weak internet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Runs on the device in under a second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Regulation and liability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Screening, not diagnosis; DRAP and ethics approval before the trial</a:t>
                      </a:r>
                      <a:endParaRPr lang="en-US" sz="24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E6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925886" cy="6857829"/>
          </a:xfrm>
          <a:prstGeom prst="rect">
            <a:avLst/>
          </a:prstGeom>
          <a:solidFill>
            <a:srgbClr val="E65C07"/>
          </a:solidFill>
          <a:ln w="12700">
            <a:solidFill>
              <a:srgbClr val="E65C0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0"/>
            <a:ext cx="1925886" cy="68578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R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I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V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A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C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F2A36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428291" y="753608"/>
            <a:ext cx="8875822" cy="2512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Face video is processed on the device and never stored.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2428291" y="3935506"/>
            <a:ext cx="8875822" cy="770354"/>
          </a:xfrm>
          <a:prstGeom prst="rect">
            <a:avLst/>
          </a:prstGeom>
          <a:solidFill>
            <a:srgbClr val="E65C07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Only the result is kept, and shared only with the patient’s consent.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5C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925886" cy="6857829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0"/>
            <a:ext cx="1925886" cy="68578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EDB596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F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EDB596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I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EDB596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N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EDB596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A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EDB596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N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EDB596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C</a:t>
            </a:r>
            <a:endParaRPr lang="en-US" sz="4000" dirty="0"/>
          </a:p>
          <a:p>
            <a:pPr marL="0" indent="0" algn="ctr">
              <a:lnSpc>
                <a:spcPct val="80000"/>
              </a:lnSpc>
              <a:buNone/>
            </a:pPr>
            <a:r>
              <a:rPr lang="en-US" sz="4000" dirty="0">
                <a:solidFill>
                  <a:srgbClr val="EDB596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2428291" y="753608"/>
            <a:ext cx="4354177" cy="2177088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637626" y="921076"/>
            <a:ext cx="3935506" cy="753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E65C07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About 50 PKR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637626" y="1758418"/>
            <a:ext cx="3935506" cy="1046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 scan, by cash or Zindigi QR.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033670" y="753608"/>
            <a:ext cx="4354177" cy="2177088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43006" y="921076"/>
            <a:ext cx="3935506" cy="753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E65C07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Roughly 40%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7243006" y="1758418"/>
            <a:ext cx="3935506" cy="1046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Goes to the pharmacy, about 20 PKR per scan.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428291" y="3181898"/>
            <a:ext cx="4354177" cy="2177088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37626" y="3349367"/>
            <a:ext cx="3935506" cy="753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E65C07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Roughly 60%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637626" y="4186709"/>
            <a:ext cx="3935506" cy="1046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Stays with us for software, tablet, and support.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033670" y="3181898"/>
            <a:ext cx="4354177" cy="2177088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43006" y="3349367"/>
            <a:ext cx="3935506" cy="753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E65C07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~30,000 PKR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243006" y="4186709"/>
            <a:ext cx="3935506" cy="1046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Rough monthly revenue per store at about 20 scans a day.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428291" y="5610189"/>
            <a:ext cx="8875822" cy="502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Rough estimates, to be confirmed in our trial.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E6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263" y="711740"/>
            <a:ext cx="2503652" cy="234455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6139" y="3391234"/>
            <a:ext cx="3181898" cy="418671"/>
          </a:xfrm>
          <a:prstGeom prst="rect">
            <a:avLst/>
          </a:prstGeom>
          <a:solidFill>
            <a:srgbClr val="E65C0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Now: Pharmacies</a:t>
            </a:r>
            <a:endParaRPr lang="en-US" sz="1700" dirty="0"/>
          </a:p>
        </p:txBody>
      </p:sp>
      <p:sp>
        <p:nvSpPr>
          <p:cNvPr id="4" name="Text 1"/>
          <p:cNvSpPr txBox="1"/>
          <p:nvPr/>
        </p:nvSpPr>
        <p:spPr>
          <a:xfrm>
            <a:off x="586139" y="3977373"/>
            <a:ext cx="3181898" cy="837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Tablet stations at chemist counters.</a:t>
            </a:r>
            <a:endParaRPr lang="en-US" sz="1900" dirty="0"/>
          </a:p>
        </p:txBody>
      </p:sp>
      <p:pic>
        <p:nvPicPr>
          <p:cNvPr id="5" name="Image 1" descr="r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9240" y="711740"/>
            <a:ext cx="4153215" cy="234455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04898" y="3391234"/>
            <a:ext cx="3181898" cy="418671"/>
          </a:xfrm>
          <a:prstGeom prst="rect">
            <a:avLst/>
          </a:prstGeom>
          <a:solidFill>
            <a:srgbClr val="E65C0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Next: Approach Doctors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4504898" y="3977373"/>
            <a:ext cx="3181898" cy="921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Connect with doctor apps so doctors see vitals before the call.</a:t>
            </a:r>
            <a:endParaRPr lang="en-US" sz="1900" dirty="0"/>
          </a:p>
        </p:txBody>
      </p:sp>
      <p:pic>
        <p:nvPicPr>
          <p:cNvPr id="8" name="Image 2" descr="r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3714" y="711740"/>
            <a:ext cx="2461785" cy="234455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423658" y="3391234"/>
            <a:ext cx="3181898" cy="418671"/>
          </a:xfrm>
          <a:prstGeom prst="rect">
            <a:avLst/>
          </a:prstGeom>
          <a:solidFill>
            <a:srgbClr val="E65C0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Later: Digital Wallets</a:t>
            </a:r>
            <a:endParaRPr lang="en-US" sz="1700" dirty="0"/>
          </a:p>
        </p:txBody>
      </p:sp>
      <p:sp>
        <p:nvSpPr>
          <p:cNvPr id="10" name="Text 5"/>
          <p:cNvSpPr txBox="1"/>
          <p:nvPr/>
        </p:nvSpPr>
        <p:spPr>
          <a:xfrm>
            <a:off x="8423658" y="3977373"/>
            <a:ext cx="3181898" cy="921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Micro-insurance with wallets like Zindigi, subject to SECP approval.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0" y="5610189"/>
            <a:ext cx="12191695" cy="1247639"/>
          </a:xfrm>
          <a:prstGeom prst="rect">
            <a:avLst/>
          </a:prstGeom>
          <a:solidFill>
            <a:srgbClr val="E65C07"/>
          </a:solidFill>
          <a:ln w="12700">
            <a:solidFill>
              <a:srgbClr val="E65C0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0" y="5652056"/>
            <a:ext cx="12191695" cy="100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EFE6E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ROLLOUT STRATEGY</a:t>
            </a:r>
            <a:endParaRPr lang="en-US" sz="6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5C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25601"/>
            <a:ext cx="12191695" cy="100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EFE6E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ROADMAP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0" y="1339747"/>
            <a:ext cx="12191695" cy="25120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1076" y="1632816"/>
          <a:ext cx="10349544" cy="3621024"/>
        </p:xfrm>
        <a:graphic>
          <a:graphicData uri="http://schemas.openxmlformats.org/drawingml/2006/table">
            <a:tbl>
              <a:tblPr/>
              <a:tblGrid>
                <a:gridCol w="12560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91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20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MONTH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ACTIVITY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OUTCOME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M 1-3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Ethics approval and hospital trial against ECG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100-200 patients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M 4-6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Trial of the app with pharmacies in our native villages (no stations set up yet)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Real-world results reviewed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M 7-12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Set up a small number of stations in nearby towns, then grow; doctor and wallet partnerships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B2828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First stations live; 1-2 doctor apps</a:t>
                      </a:r>
                      <a:endParaRPr lang="en-US" sz="2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C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921076" y="5777658"/>
            <a:ext cx="10349543" cy="837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Month 3: accuracy holds up.   Month 6: village trial results are positive.   Month 12: first stations and one doctor partner live.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5C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25601"/>
            <a:ext cx="12191695" cy="100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EFE6E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OUR ASK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0" y="1339747"/>
            <a:ext cx="12191695" cy="25120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0" y="1549082"/>
            <a:ext cx="12191695" cy="418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EFE6E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We are seeking 2,000,000 PKR to: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21076" y="2218956"/>
            <a:ext cx="3315873" cy="2763228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1076" y="2344557"/>
            <a:ext cx="3315873" cy="837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 smtClean="0">
                <a:solidFill>
                  <a:srgbClr val="E65C07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45%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921076" y="3223766"/>
            <a:ext cx="3315873" cy="3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900,000 PKR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30411" y="3684303"/>
            <a:ext cx="2897202" cy="117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Pilot stations: tablets, setup, and training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437911" y="2218956"/>
            <a:ext cx="3315873" cy="2763228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37911" y="2344557"/>
            <a:ext cx="3315873" cy="837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E65C07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30%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4437911" y="3223766"/>
            <a:ext cx="3315873" cy="3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600,000 PKR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47246" y="3684303"/>
            <a:ext cx="2897202" cy="117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Clinical trial: ethics approval and ECG reference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954746" y="2218956"/>
            <a:ext cx="3315873" cy="2763228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4746" y="2344557"/>
            <a:ext cx="3315873" cy="837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E65C07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25%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7954746" y="3223766"/>
            <a:ext cx="3315873" cy="3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500,000 PKR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164082" y="3684303"/>
            <a:ext cx="2897202" cy="117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Regulation and partnerships: DRAP, legal, doctors and wallets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1076" y="5275253"/>
            <a:ext cx="10349543" cy="837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 12 months: a validated product, live pharmacies, and a first doctor partner.</a:t>
            </a:r>
            <a:endParaRPr lang="en-US" sz="2600" dirty="0"/>
          </a:p>
        </p:txBody>
      </p:sp>
    </p:spTree>
  </p:cSld>
  <p:clrMapOvr>
    <a:masterClrMapping/>
  </p:clrMapOvr>
  <p:transition spd="med">
    <p:pull dir="d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65C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25601"/>
            <a:ext cx="12191695" cy="100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EFE6E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TEAM AND PROGRESS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0" y="1339747"/>
            <a:ext cx="12191695" cy="25120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1076" y="1884019"/>
            <a:ext cx="3315873" cy="1256013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1076" y="2009620"/>
            <a:ext cx="3315873" cy="58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Ahmad Ali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921076" y="2637626"/>
            <a:ext cx="3315873" cy="376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5C0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Business &amp; Partnerships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437911" y="1884019"/>
            <a:ext cx="3315873" cy="1256013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7911" y="2009620"/>
            <a:ext cx="3315873" cy="58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Sachin Kumar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37911" y="2637626"/>
            <a:ext cx="3315873" cy="376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5C0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Technology &amp; Demo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954746" y="1884019"/>
            <a:ext cx="3315873" cy="1256013"/>
          </a:xfrm>
          <a:prstGeom prst="rect">
            <a:avLst/>
          </a:prstGeom>
          <a:solidFill>
            <a:srgbClr val="EFE6E0"/>
          </a:solidFill>
          <a:ln w="12700">
            <a:solidFill>
              <a:srgbClr val="EFE6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4746" y="2009620"/>
            <a:ext cx="3315873" cy="58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Muhammad Uzair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954746" y="2637626"/>
            <a:ext cx="3315873" cy="376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5C0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Research &amp; Validation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921076" y="3684303"/>
            <a:ext cx="10349543" cy="167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Working prototype: </a:t>
            </a:r>
            <a:r>
              <a:rPr lang="en-US" sz="26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live camera scan demo.</a:t>
            </a:r>
            <a:endParaRPr lang="en-US" sz="2600" dirty="0"/>
          </a:p>
          <a:p>
            <a:pPr marL="0" indent="0" algn="ctr"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Next: </a:t>
            </a:r>
            <a:r>
              <a:rPr lang="en-US" sz="26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validate accuracy against ECG.</a:t>
            </a:r>
            <a:endParaRPr lang="en-US" sz="2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FE6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810" y="1004810"/>
            <a:ext cx="10182075" cy="418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Tib-e-Nijat makes basic health screening instant, affordable, and available at the neighborhood pharmacy: no special hardware, no video stored.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0" y="5610189"/>
            <a:ext cx="12191695" cy="1247639"/>
          </a:xfrm>
          <a:prstGeom prst="rect">
            <a:avLst/>
          </a:prstGeom>
          <a:solidFill>
            <a:srgbClr val="E65C07"/>
          </a:solidFill>
          <a:ln w="12700">
            <a:solidFill>
              <a:srgbClr val="E65C0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0" y="5652056"/>
            <a:ext cx="12191695" cy="100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EFE6E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CONCLUSION</a:t>
            </a:r>
            <a:endParaRPr lang="en-US" sz="6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FE6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7228"/>
            <a:ext cx="12191695" cy="2679493"/>
          </a:xfrm>
          <a:prstGeom prst="rect">
            <a:avLst/>
          </a:prstGeom>
          <a:solidFill>
            <a:srgbClr val="E65C07"/>
          </a:solidFill>
          <a:ln w="12700">
            <a:solidFill>
              <a:srgbClr val="E65C07"/>
            </a:solidFill>
            <a:prstDash val="solid"/>
          </a:ln>
        </p:spPr>
      </p:sp>
      <p:pic>
        <p:nvPicPr>
          <p:cNvPr id="3" name="Image 0" descr="ill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5" y="125601"/>
            <a:ext cx="4563512" cy="2846962"/>
          </a:xfrm>
          <a:prstGeom prst="rect">
            <a:avLst/>
          </a:prstGeom>
        </p:spPr>
      </p:pic>
      <p:pic>
        <p:nvPicPr>
          <p:cNvPr id="4" name="Image 1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019" y="3081417"/>
            <a:ext cx="485658" cy="51915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0" y="3667557"/>
            <a:ext cx="12191695" cy="251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Tib-e-Nijat (طبِ نجات)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0" y="3935506"/>
            <a:ext cx="12191695" cy="100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1B2828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7" name="Text 3"/>
          <p:cNvSpPr txBox="1"/>
          <p:nvPr/>
        </p:nvSpPr>
        <p:spPr>
          <a:xfrm>
            <a:off x="0" y="5024050"/>
            <a:ext cx="12191695" cy="28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B28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Zindigi Prize  •  Ahmad Ali · Sachin Kumar · Muhammad Uzair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0" y="5358987"/>
            <a:ext cx="12191695" cy="28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65C0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LIVE DEMO: ADD YOUR QR CODE OR DEMO-VIDEO LINK HERE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746</Words>
  <Application>Microsoft Office PowerPoint</Application>
  <PresentationFormat>Widescreen</PresentationFormat>
  <Paragraphs>154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Archivo Black</vt:lpstr>
      <vt:lpstr>Arial</vt:lpstr>
      <vt:lpstr>Calibri</vt:lpstr>
      <vt:lpstr>Work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HomePC</cp:lastModifiedBy>
  <cp:revision>2</cp:revision>
  <dcterms:created xsi:type="dcterms:W3CDTF">2026-10-25T17:30:26Z</dcterms:created>
  <dcterms:modified xsi:type="dcterms:W3CDTF">2026-10-25T17:39:06Z</dcterms:modified>
</cp:coreProperties>
</file>