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tinger Fit Bold" charset="1" panose="00000800000000000000"/>
      <p:regular r:id="rId16"/>
    </p:embeddedFont>
    <p:embeddedFont>
      <p:font typeface="Work Sans" charset="1" panose="00000000000000000000"/>
      <p:regular r:id="rId17"/>
    </p:embeddedFont>
    <p:embeddedFont>
      <p:font typeface="Stinger Fit" charset="1" panose="00000500000000000000"/>
      <p:regular r:id="rId18"/>
    </p:embeddedFont>
    <p:embeddedFont>
      <p:font typeface="Work Sans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738215"/>
            <a:ext cx="18288000" cy="3761566"/>
            <a:chOff x="0" y="0"/>
            <a:chExt cx="4816593" cy="99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90700"/>
            </a:xfrm>
            <a:custGeom>
              <a:avLst/>
              <a:gdLst/>
              <a:ahLst/>
              <a:cxnLst/>
              <a:rect r="r" b="b" t="t" l="l"/>
              <a:pathLst>
                <a:path h="990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90700"/>
                  </a:lnTo>
                  <a:lnTo>
                    <a:pt x="0" y="990700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1047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9701"/>
            <a:ext cx="18288000" cy="194834"/>
            <a:chOff x="0" y="0"/>
            <a:chExt cx="4816593" cy="513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1314"/>
            </a:xfrm>
            <a:custGeom>
              <a:avLst/>
              <a:gdLst/>
              <a:ahLst/>
              <a:cxnLst/>
              <a:rect r="r" b="b" t="t" l="l"/>
              <a:pathLst>
                <a:path h="5131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1314"/>
                  </a:lnTo>
                  <a:lnTo>
                    <a:pt x="0" y="51314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16593" cy="108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63049" y="2789866"/>
            <a:ext cx="15561902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b="true" sz="9999" strike="noStrike" u="none">
                <a:solidFill>
                  <a:srgbClr val="1A2526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TIB-E-NIJAT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20250" y="4450391"/>
            <a:ext cx="10647500" cy="432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58"/>
              </a:lnSpc>
              <a:spcBef>
                <a:spcPct val="0"/>
              </a:spcBef>
            </a:pPr>
            <a:r>
              <a:rPr lang="en-US" sz="2470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Camera Vitals Screening for Every Neighborhood Pharmacy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43655" y="2267060"/>
            <a:ext cx="3800691" cy="87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58"/>
              </a:lnSpc>
              <a:spcBef>
                <a:spcPct val="0"/>
              </a:spcBef>
            </a:pPr>
            <a:r>
              <a:rPr lang="ar-EG" sz="2470" spc="24" strike="noStrike" u="none">
                <a:solidFill>
                  <a:srgbClr val="1A2526"/>
                </a:solidFill>
                <a:latin typeface="Stinger Fit"/>
                <a:ea typeface="Stinger Fit"/>
                <a:cs typeface="Stinger Fit"/>
                <a:sym typeface="Stinger Fit"/>
                <a:rtl val="true"/>
              </a:rPr>
              <a:t>طبِ نجات</a:t>
            </a:r>
            <a:r>
              <a:rPr lang="en-US" sz="2470" spc="24" strike="noStrike" u="none">
                <a:solidFill>
                  <a:srgbClr val="1A2526"/>
                </a:solidFill>
                <a:latin typeface="Stinger Fit"/>
                <a:ea typeface="Stinger Fit"/>
                <a:cs typeface="Stinger Fit"/>
                <a:sym typeface="Stinger Fit"/>
              </a:rPr>
              <a:t> • Zindigi Prize | Ahmad · Sachin · Uzair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0" y="1140835"/>
            <a:ext cx="18288000" cy="0"/>
          </a:xfrm>
          <a:prstGeom prst="line">
            <a:avLst/>
          </a:prstGeom>
          <a:ln cap="flat" w="38100">
            <a:solidFill>
              <a:srgbClr val="1A25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 descr="Original Template Cover Illustration Left"/>
          <p:cNvSpPr/>
          <p:nvPr/>
        </p:nvSpPr>
        <p:spPr>
          <a:xfrm flipH="false" flipV="false" rot="0">
            <a:off x="1585912" y="5561647"/>
            <a:ext cx="5588318" cy="4114800"/>
          </a:xfrm>
          <a:custGeom>
            <a:avLst/>
            <a:gdLst/>
            <a:ahLst/>
            <a:cxnLst/>
            <a:rect r="r" b="b" t="t" l="l"/>
            <a:pathLst>
              <a:path h="4114800" w="5588318">
                <a:moveTo>
                  <a:pt x="0" y="0"/>
                </a:moveTo>
                <a:lnTo>
                  <a:pt x="5588318" y="0"/>
                </a:lnTo>
                <a:lnTo>
                  <a:pt x="5588318" y="4114801"/>
                </a:lnTo>
                <a:lnTo>
                  <a:pt x="0" y="411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1" t="0" r="-21" b="0"/>
            </a:stretch>
          </a:blipFill>
        </p:spPr>
      </p:sp>
      <p:sp>
        <p:nvSpPr>
          <p:cNvPr name="Freeform 13" id="13" descr="Original Template Cover Illustration Center"/>
          <p:cNvSpPr/>
          <p:nvPr/>
        </p:nvSpPr>
        <p:spPr>
          <a:xfrm flipH="false" flipV="false" rot="0">
            <a:off x="6011228" y="6689407"/>
            <a:ext cx="6264593" cy="3098483"/>
          </a:xfrm>
          <a:custGeom>
            <a:avLst/>
            <a:gdLst/>
            <a:ahLst/>
            <a:cxnLst/>
            <a:rect r="r" b="b" t="t" l="l"/>
            <a:pathLst>
              <a:path h="3098483" w="6264593">
                <a:moveTo>
                  <a:pt x="0" y="0"/>
                </a:moveTo>
                <a:lnTo>
                  <a:pt x="6264592" y="0"/>
                </a:lnTo>
                <a:lnTo>
                  <a:pt x="6264592" y="3098483"/>
                </a:lnTo>
                <a:lnTo>
                  <a:pt x="0" y="3098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0" t="0" r="-70" b="0"/>
            </a:stretch>
          </a:blipFill>
        </p:spPr>
      </p:sp>
      <p:sp>
        <p:nvSpPr>
          <p:cNvPr name="Freeform 14" id="14" descr="Original Template Cover Illustration Right"/>
          <p:cNvSpPr/>
          <p:nvPr/>
        </p:nvSpPr>
        <p:spPr>
          <a:xfrm flipH="false" flipV="false" rot="0">
            <a:off x="11189970" y="5561647"/>
            <a:ext cx="4952047" cy="4114800"/>
          </a:xfrm>
          <a:custGeom>
            <a:avLst/>
            <a:gdLst/>
            <a:ahLst/>
            <a:cxnLst/>
            <a:rect r="r" b="b" t="t" l="l"/>
            <a:pathLst>
              <a:path h="4114800" w="4952047">
                <a:moveTo>
                  <a:pt x="0" y="0"/>
                </a:moveTo>
                <a:lnTo>
                  <a:pt x="4952047" y="0"/>
                </a:lnTo>
                <a:lnTo>
                  <a:pt x="4952047" y="4114801"/>
                </a:lnTo>
                <a:lnTo>
                  <a:pt x="0" y="41148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2" r="0" b="-22"/>
            </a:stretch>
          </a:blipFill>
        </p:spPr>
      </p:sp>
      <p:sp>
        <p:nvSpPr>
          <p:cNvPr name="Freeform 15" id="15" descr="Tib-e-Nijat Official Emblem Mark"/>
          <p:cNvSpPr/>
          <p:nvPr/>
        </p:nvSpPr>
        <p:spPr>
          <a:xfrm flipH="false" flipV="false" rot="0">
            <a:off x="8572500" y="1143000"/>
            <a:ext cx="1143000" cy="1143000"/>
          </a:xfrm>
          <a:custGeom>
            <a:avLst/>
            <a:gdLst/>
            <a:ahLst/>
            <a:cxnLst/>
            <a:rect r="r" b="b" t="t" l="l"/>
            <a:pathLst>
              <a:path h="1143000" w="1143000">
                <a:moveTo>
                  <a:pt x="0" y="0"/>
                </a:moveTo>
                <a:lnTo>
                  <a:pt x="1143000" y="0"/>
                </a:lnTo>
                <a:lnTo>
                  <a:pt x="11430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DE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879901" cy="10287000"/>
            <a:chOff x="0" y="0"/>
            <a:chExt cx="75849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8493" cy="2709333"/>
            </a:xfrm>
            <a:custGeom>
              <a:avLst/>
              <a:gdLst/>
              <a:ahLst/>
              <a:cxnLst/>
              <a:rect r="r" b="b" t="t" l="l"/>
              <a:pathLst>
                <a:path h="2709333" w="758493">
                  <a:moveTo>
                    <a:pt x="0" y="0"/>
                  </a:moveTo>
                  <a:lnTo>
                    <a:pt x="758493" y="0"/>
                  </a:lnTo>
                  <a:lnTo>
                    <a:pt x="75849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58492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7727147" y="0"/>
            <a:ext cx="0" cy="10287000"/>
          </a:xfrm>
          <a:prstGeom prst="line">
            <a:avLst/>
          </a:prstGeom>
          <a:ln cap="flat" w="38100">
            <a:solidFill>
              <a:srgbClr val="1A25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3597688" y="914400"/>
            <a:ext cx="13366638" cy="441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1A2526"/>
                </a:solidFill>
                <a:latin typeface="Stinger Fit"/>
                <a:ea typeface="Stinger Fit"/>
                <a:cs typeface="Stinger Fit"/>
                <a:sym typeface="Stinger Fit"/>
              </a:rPr>
              <a:t>&lt;280,000 doctors for 240M Pakistanis. A basic vitals check takes hours of travel and waiting. Tib-e-Nijat provides a 30-second tablet camera screening at neighborhood pharmacies.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97688" y="6661150"/>
            <a:ext cx="1280375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30s camera rPPG measures pulse, HRV &amp; breathing — Traffic-Light result: Normal, Monitor, or See a Doctor.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97688" y="8724900"/>
            <a:ext cx="1280375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~50 PKR per scan (40% pharmacy / 60% us) = ~30,000 PKR/month per store at 20 scans/day.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97688" y="7693025"/>
            <a:ext cx="1280375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Screening tool that sends patients to a doctor (doesn't replace one). Face video is never stored.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-3"/>
            <a:ext cx="2879901" cy="1049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EDE5DE">
                    <a:alpha val="29804"/>
                  </a:srgbClr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S</a:t>
            </a:r>
          </a:p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EDE5DE">
                    <a:alpha val="29804"/>
                  </a:srgbClr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U</a:t>
            </a:r>
          </a:p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EDE5DE">
                    <a:alpha val="29804"/>
                  </a:srgbClr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M</a:t>
            </a:r>
          </a:p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EDE5DE">
                    <a:alpha val="29804"/>
                  </a:srgbClr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M</a:t>
            </a:r>
          </a:p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EDE5DE">
                    <a:alpha val="29804"/>
                  </a:srgbClr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A</a:t>
            </a:r>
          </a:p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EDE5DE">
                    <a:alpha val="29804"/>
                  </a:srgbClr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R</a:t>
            </a:r>
          </a:p>
          <a:p>
            <a:pPr algn="l" marL="0" indent="0" lvl="0">
              <a:lnSpc>
                <a:spcPts val="11899"/>
              </a:lnSpc>
              <a:spcBef>
                <a:spcPct val="0"/>
              </a:spcBef>
            </a:pPr>
            <a:r>
              <a:rPr lang="en-US" b="true" sz="8499">
                <a:solidFill>
                  <a:srgbClr val="EDE5DE">
                    <a:alpha val="29804"/>
                  </a:srgbClr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5E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2332053"/>
            <a:ext cx="18288000" cy="0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30649" y="3228433"/>
            <a:ext cx="50215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Heart Rate &amp; HRV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80339" y="7400690"/>
            <a:ext cx="432732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Breathing &amp; Stress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37750" y="3228433"/>
            <a:ext cx="50215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Clinical Triage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0649" y="3926400"/>
            <a:ext cx="5021550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Camera rPPG picks up skin micro-color changes; accuracy target within 2 BPM of ECG in hospital trial.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0339" y="8098657"/>
            <a:ext cx="432732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Confidence Meter prompts a retake in poor light; Fingertip + Flash mode handles dark rooms.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37750" y="3926400"/>
            <a:ext cx="502155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Simple Traffic-Light result (Normal, Monitor, See a Doctor) refers patients to doctors early.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4402" y="-105110"/>
            <a:ext cx="15519195" cy="220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18"/>
              </a:lnSpc>
              <a:spcBef>
                <a:spcPct val="0"/>
              </a:spcBef>
            </a:pPr>
            <a:r>
              <a:rPr lang="en-US" b="true" sz="12798" strike="noStrike" u="none">
                <a:solidFill>
                  <a:srgbClr val="EDE5DE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CORE VITALS</a:t>
            </a:r>
          </a:p>
        </p:txBody>
      </p:sp>
      <p:sp>
        <p:nvSpPr>
          <p:cNvPr name="Freeform 10" id="10" descr="Original Template Illustration 1"/>
          <p:cNvSpPr/>
          <p:nvPr/>
        </p:nvSpPr>
        <p:spPr>
          <a:xfrm flipH="false" flipV="false" rot="0">
            <a:off x="1678305" y="5442585"/>
            <a:ext cx="3727133" cy="3516630"/>
          </a:xfrm>
          <a:custGeom>
            <a:avLst/>
            <a:gdLst/>
            <a:ahLst/>
            <a:cxnLst/>
            <a:rect r="r" b="b" t="t" l="l"/>
            <a:pathLst>
              <a:path h="3516630" w="3727133">
                <a:moveTo>
                  <a:pt x="0" y="0"/>
                </a:moveTo>
                <a:lnTo>
                  <a:pt x="3727133" y="0"/>
                </a:lnTo>
                <a:lnTo>
                  <a:pt x="3727133" y="3516630"/>
                </a:lnTo>
                <a:lnTo>
                  <a:pt x="0" y="3516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9" r="0" b="-19"/>
            </a:stretch>
          </a:blipFill>
        </p:spPr>
      </p:sp>
      <p:sp>
        <p:nvSpPr>
          <p:cNvPr name="Freeform 11" id="11" descr="Original Template Illustration 2"/>
          <p:cNvSpPr/>
          <p:nvPr/>
        </p:nvSpPr>
        <p:spPr>
          <a:xfrm flipH="false" flipV="false" rot="0">
            <a:off x="7183755" y="3086100"/>
            <a:ext cx="3920490" cy="4114800"/>
          </a:xfrm>
          <a:custGeom>
            <a:avLst/>
            <a:gdLst/>
            <a:ahLst/>
            <a:cxnLst/>
            <a:rect r="r" b="b" t="t" l="l"/>
            <a:pathLst>
              <a:path h="4114800" w="3920490">
                <a:moveTo>
                  <a:pt x="0" y="0"/>
                </a:moveTo>
                <a:lnTo>
                  <a:pt x="3920490" y="0"/>
                </a:lnTo>
                <a:lnTo>
                  <a:pt x="39204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" t="0" r="-16" b="0"/>
            </a:stretch>
          </a:blipFill>
        </p:spPr>
      </p:sp>
      <p:sp>
        <p:nvSpPr>
          <p:cNvPr name="Freeform 12" id="12" descr="Original Template Illustration 3"/>
          <p:cNvSpPr/>
          <p:nvPr/>
        </p:nvSpPr>
        <p:spPr>
          <a:xfrm flipH="false" flipV="false" rot="0">
            <a:off x="12237720" y="5442585"/>
            <a:ext cx="4959668" cy="3516630"/>
          </a:xfrm>
          <a:custGeom>
            <a:avLst/>
            <a:gdLst/>
            <a:ahLst/>
            <a:cxnLst/>
            <a:rect r="r" b="b" t="t" l="l"/>
            <a:pathLst>
              <a:path h="3516630" w="4959668">
                <a:moveTo>
                  <a:pt x="0" y="0"/>
                </a:moveTo>
                <a:lnTo>
                  <a:pt x="4959668" y="0"/>
                </a:lnTo>
                <a:lnTo>
                  <a:pt x="4959668" y="3516630"/>
                </a:lnTo>
                <a:lnTo>
                  <a:pt x="0" y="35166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1" r="0" b="-11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5E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420491"/>
            <a:ext cx="18288000" cy="1866509"/>
            <a:chOff x="0" y="0"/>
            <a:chExt cx="4816593" cy="491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1591"/>
            </a:xfrm>
            <a:custGeom>
              <a:avLst/>
              <a:gdLst/>
              <a:ahLst/>
              <a:cxnLst/>
              <a:rect r="r" b="b" t="t" l="l"/>
              <a:pathLst>
                <a:path h="49159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1591"/>
                  </a:lnTo>
                  <a:lnTo>
                    <a:pt x="0" y="491591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548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84402" y="8078436"/>
            <a:ext cx="15519195" cy="220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8"/>
              </a:lnSpc>
              <a:spcBef>
                <a:spcPct val="0"/>
              </a:spcBef>
            </a:pPr>
            <a:r>
              <a:rPr lang="en-US" b="true" sz="12798">
                <a:solidFill>
                  <a:srgbClr val="E65E07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TARGET MARKET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252707"/>
            <a:ext cx="50215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EDE5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Demographics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91889"/>
            <a:ext cx="50215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EDE5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Psychographics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812101"/>
            <a:ext cx="50215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EDE5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Buyer Persona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950674"/>
            <a:ext cx="2282162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Target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Locations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Income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389856"/>
            <a:ext cx="741629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Families in Tier 2 &amp; 3 towns wanting a quick 50 PKR check without hours of hospital travel &amp; waiting.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510068"/>
            <a:ext cx="741629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Pharmacy owners earning ~40% revenue share &amp; extra walk-ins; starting in our own native villages.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10862" y="1950674"/>
            <a:ext cx="5134128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: Native Villages First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: Tier 2 &amp; 3 Cities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: Pharmacy Counters</a:t>
            </a:r>
          </a:p>
        </p:txBody>
      </p:sp>
      <p:sp>
        <p:nvSpPr>
          <p:cNvPr name="AutoShape 13" id="13"/>
          <p:cNvSpPr/>
          <p:nvPr/>
        </p:nvSpPr>
        <p:spPr>
          <a:xfrm>
            <a:off x="9144000" y="0"/>
            <a:ext cx="0" cy="8629134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 descr="Tib-e-Nijat Canva Neo-Brutalist Clinical UI Live Prototype"/>
          <p:cNvSpPr/>
          <p:nvPr/>
        </p:nvSpPr>
        <p:spPr>
          <a:xfrm flipH="false" flipV="false" rot="0">
            <a:off x="10572750" y="1143000"/>
            <a:ext cx="6477000" cy="6477000"/>
          </a:xfrm>
          <a:custGeom>
            <a:avLst/>
            <a:gdLst/>
            <a:ahLst/>
            <a:cxnLst/>
            <a:rect r="r" b="b" t="t" l="l"/>
            <a:pathLst>
              <a:path h="6477000" w="6477000">
                <a:moveTo>
                  <a:pt x="0" y="0"/>
                </a:moveTo>
                <a:lnTo>
                  <a:pt x="6477000" y="0"/>
                </a:lnTo>
                <a:lnTo>
                  <a:pt x="6477000" y="6477000"/>
                </a:lnTo>
                <a:lnTo>
                  <a:pt x="0" y="647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7" t="-1667" r="-1667" b="-1667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619375" cy="10287000"/>
            <a:chOff x="0" y="0"/>
            <a:chExt cx="68987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98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689877">
                  <a:moveTo>
                    <a:pt x="0" y="0"/>
                  </a:moveTo>
                  <a:lnTo>
                    <a:pt x="689877" y="0"/>
                  </a:lnTo>
                  <a:lnTo>
                    <a:pt x="6898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89877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668625" y="0"/>
            <a:ext cx="2619375" cy="10287000"/>
            <a:chOff x="0" y="0"/>
            <a:chExt cx="689877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98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689877">
                  <a:moveTo>
                    <a:pt x="0" y="0"/>
                  </a:moveTo>
                  <a:lnTo>
                    <a:pt x="689877" y="0"/>
                  </a:lnTo>
                  <a:lnTo>
                    <a:pt x="6898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89877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4000500" y="2638331"/>
            <a:ext cx="10287000" cy="0"/>
          </a:xfrm>
          <a:prstGeom prst="line">
            <a:avLst/>
          </a:prstGeom>
          <a:ln cap="flat" w="38100">
            <a:solidFill>
              <a:srgbClr val="1A25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120418" y="2369475"/>
            <a:ext cx="404716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Key Competitors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46665" y="-266700"/>
            <a:ext cx="18334665" cy="220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18"/>
              </a:lnSpc>
              <a:spcBef>
                <a:spcPct val="0"/>
              </a:spcBef>
            </a:pPr>
            <a:r>
              <a:rPr lang="en-US" b="true" sz="12798" strike="noStrike" u="none">
                <a:solidFill>
                  <a:srgbClr val="1A2526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COMPETITIVE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46665" y="8078436"/>
            <a:ext cx="18334665" cy="220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18"/>
              </a:lnSpc>
              <a:spcBef>
                <a:spcPct val="0"/>
              </a:spcBef>
            </a:pPr>
            <a:r>
              <a:rPr lang="en-US" b="true" sz="12798" strike="noStrike" u="none">
                <a:solidFill>
                  <a:srgbClr val="1A2526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ANALYSIS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000500" y="4352837"/>
            <a:ext cx="10287000" cy="0"/>
          </a:xfrm>
          <a:prstGeom prst="line">
            <a:avLst/>
          </a:prstGeom>
          <a:ln cap="flat" w="38100">
            <a:solidFill>
              <a:srgbClr val="1A25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5913429" y="4048037"/>
            <a:ext cx="646114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Unique Value Proposition</a:t>
            </a:r>
          </a:p>
        </p:txBody>
      </p:sp>
      <p:sp>
        <p:nvSpPr>
          <p:cNvPr name="AutoShape 14" id="14"/>
          <p:cNvSpPr/>
          <p:nvPr/>
        </p:nvSpPr>
        <p:spPr>
          <a:xfrm>
            <a:off x="4000500" y="6089411"/>
            <a:ext cx="10287000" cy="0"/>
          </a:xfrm>
          <a:prstGeom prst="line">
            <a:avLst/>
          </a:prstGeom>
          <a:ln cap="flat" w="38100">
            <a:solidFill>
              <a:srgbClr val="1A25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5913429" y="5784611"/>
            <a:ext cx="646114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Strategic Analysis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91382" y="6147070"/>
            <a:ext cx="372073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Challenge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06138" y="7373611"/>
            <a:ext cx="372073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Mitigation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67582" y="6550295"/>
            <a:ext cx="3720739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Requires normal room lighting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87513" y="4638436"/>
            <a:ext cx="4072012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DRAP screening classification + Ethics trial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44524" y="3187612"/>
            <a:ext cx="214297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ECG Carts</a:t>
            </a:r>
          </a:p>
        </p:txBody>
      </p:sp>
      <p:sp>
        <p:nvSpPr>
          <p:cNvPr name="AutoShape 21" id="21"/>
          <p:cNvSpPr/>
          <p:nvPr/>
        </p:nvSpPr>
        <p:spPr>
          <a:xfrm>
            <a:off x="4000500" y="7308040"/>
            <a:ext cx="10287000" cy="0"/>
          </a:xfrm>
          <a:prstGeom prst="line">
            <a:avLst/>
          </a:prstGeom>
          <a:ln cap="flat" w="9525">
            <a:solidFill>
              <a:srgbClr val="E65E0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9144000" y="6318011"/>
            <a:ext cx="0" cy="1854586"/>
          </a:xfrm>
          <a:prstGeom prst="line">
            <a:avLst/>
          </a:prstGeom>
          <a:ln cap="flat" w="9525">
            <a:solidFill>
              <a:srgbClr val="E65E0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2619375" y="1626525"/>
            <a:ext cx="13049250" cy="0"/>
          </a:xfrm>
          <a:prstGeom prst="line">
            <a:avLst/>
          </a:prstGeom>
          <a:ln cap="flat" w="38100">
            <a:solidFill>
              <a:srgbClr val="1A25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2619375" y="493050"/>
            <a:ext cx="13049250" cy="0"/>
          </a:xfrm>
          <a:prstGeom prst="line">
            <a:avLst/>
          </a:prstGeom>
          <a:ln cap="flat" w="38100">
            <a:solidFill>
              <a:srgbClr val="1A25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2619375" y="9953772"/>
            <a:ext cx="13049250" cy="0"/>
          </a:xfrm>
          <a:prstGeom prst="line">
            <a:avLst/>
          </a:prstGeom>
          <a:ln cap="flat" w="38100">
            <a:solidFill>
              <a:srgbClr val="1A25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2619375" y="8801247"/>
            <a:ext cx="13049250" cy="0"/>
          </a:xfrm>
          <a:prstGeom prst="line">
            <a:avLst/>
          </a:prstGeom>
          <a:ln cap="flat" w="38100">
            <a:solidFill>
              <a:srgbClr val="1A25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49754" y="6641861"/>
            <a:ext cx="3919215" cy="3790950"/>
          </a:xfrm>
          <a:custGeom>
            <a:avLst/>
            <a:gdLst/>
            <a:ahLst/>
            <a:cxnLst/>
            <a:rect r="r" b="b" t="t" l="l"/>
            <a:pathLst>
              <a:path h="3790950" w="3919215">
                <a:moveTo>
                  <a:pt x="0" y="0"/>
                </a:moveTo>
                <a:lnTo>
                  <a:pt x="3919215" y="0"/>
                </a:lnTo>
                <a:lnTo>
                  <a:pt x="3919215" y="3790950"/>
                </a:lnTo>
                <a:lnTo>
                  <a:pt x="0" y="3790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0">
            <a:off x="14287500" y="7081267"/>
            <a:ext cx="3320440" cy="3205733"/>
          </a:xfrm>
          <a:custGeom>
            <a:avLst/>
            <a:gdLst/>
            <a:ahLst/>
            <a:cxnLst/>
            <a:rect r="r" b="b" t="t" l="l"/>
            <a:pathLst>
              <a:path h="3205733" w="3320440">
                <a:moveTo>
                  <a:pt x="3320440" y="0"/>
                </a:moveTo>
                <a:lnTo>
                  <a:pt x="0" y="0"/>
                </a:lnTo>
                <a:lnTo>
                  <a:pt x="0" y="3205733"/>
                </a:lnTo>
                <a:lnTo>
                  <a:pt x="3320440" y="3205733"/>
                </a:lnTo>
                <a:lnTo>
                  <a:pt x="33204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000500" y="3187612"/>
            <a:ext cx="214297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BP &amp; Oximeters (1 metric)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46099" y="4686061"/>
            <a:ext cx="393466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Gives partner doctors vitals before the call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00500" y="6143386"/>
            <a:ext cx="372073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Strength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999273" y="7373611"/>
            <a:ext cx="372073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Opportunity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999273" y="6550295"/>
            <a:ext cx="3720739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On-device privacy: face video is never stored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00500" y="7813822"/>
            <a:ext cx="372073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50,000+ retail pharmacies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091382" y="7722378"/>
            <a:ext cx="3720739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Fingertip + Flash mode &amp; Confidence Retake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72512" y="3187612"/>
            <a:ext cx="214297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Oladoc / Marham (Partners)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420491"/>
            <a:ext cx="18288000" cy="1866509"/>
            <a:chOff x="0" y="0"/>
            <a:chExt cx="4816593" cy="491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1591"/>
            </a:xfrm>
            <a:custGeom>
              <a:avLst/>
              <a:gdLst/>
              <a:ahLst/>
              <a:cxnLst/>
              <a:rect r="r" b="b" t="t" l="l"/>
              <a:pathLst>
                <a:path h="49159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1591"/>
                  </a:lnTo>
                  <a:lnTo>
                    <a:pt x="0" y="491591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548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932441" y="1169016"/>
            <a:ext cx="6695690" cy="3810456"/>
          </a:xfrm>
          <a:custGeom>
            <a:avLst/>
            <a:gdLst/>
            <a:ahLst/>
            <a:cxnLst/>
            <a:rect r="r" b="b" t="t" l="l"/>
            <a:pathLst>
              <a:path h="3810456" w="6695690">
                <a:moveTo>
                  <a:pt x="0" y="0"/>
                </a:moveTo>
                <a:lnTo>
                  <a:pt x="6695690" y="0"/>
                </a:lnTo>
                <a:lnTo>
                  <a:pt x="6695690" y="3810456"/>
                </a:lnTo>
                <a:lnTo>
                  <a:pt x="0" y="3810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6225" y="1169016"/>
            <a:ext cx="4085285" cy="3810456"/>
          </a:xfrm>
          <a:custGeom>
            <a:avLst/>
            <a:gdLst/>
            <a:ahLst/>
            <a:cxnLst/>
            <a:rect r="r" b="b" t="t" l="l"/>
            <a:pathLst>
              <a:path h="3810456" w="4085285">
                <a:moveTo>
                  <a:pt x="0" y="0"/>
                </a:moveTo>
                <a:lnTo>
                  <a:pt x="4085284" y="0"/>
                </a:lnTo>
                <a:lnTo>
                  <a:pt x="4085284" y="3810456"/>
                </a:lnTo>
                <a:lnTo>
                  <a:pt x="0" y="38104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36745" y="1169016"/>
            <a:ext cx="4022555" cy="3810456"/>
          </a:xfrm>
          <a:custGeom>
            <a:avLst/>
            <a:gdLst/>
            <a:ahLst/>
            <a:cxnLst/>
            <a:rect r="r" b="b" t="t" l="l"/>
            <a:pathLst>
              <a:path h="3810456" w="4022555">
                <a:moveTo>
                  <a:pt x="0" y="0"/>
                </a:moveTo>
                <a:lnTo>
                  <a:pt x="4022555" y="0"/>
                </a:lnTo>
                <a:lnTo>
                  <a:pt x="4022555" y="3810456"/>
                </a:lnTo>
                <a:lnTo>
                  <a:pt x="0" y="38104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84402" y="8361992"/>
            <a:ext cx="15519195" cy="1602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19"/>
              </a:lnSpc>
              <a:spcBef>
                <a:spcPct val="0"/>
              </a:spcBef>
            </a:pPr>
            <a:r>
              <a:rPr lang="en-US" b="true" sz="9299" strike="noStrike" u="none">
                <a:solidFill>
                  <a:srgbClr val="EDE5DE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ROLLOUT STRATEGY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0649" y="5731947"/>
            <a:ext cx="50215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1. Now: Pharmacies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72108" y="5731947"/>
            <a:ext cx="50215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2. Next: Doctor Apps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37750" y="5731947"/>
            <a:ext cx="502155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3. Later: Zindigi Wallet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0649" y="6429914"/>
            <a:ext cx="502155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Begin in our own native villages to learn from honest feedback, then scale tablet stations.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72108" y="6429914"/>
            <a:ext cx="502155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Connect with Oladoc &amp; Marham as partners so doctors see patient vitals before the call.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37750" y="6429914"/>
            <a:ext cx="502155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1A2526"/>
                </a:solidFill>
                <a:latin typeface="Work Sans"/>
                <a:ea typeface="Work Sans"/>
                <a:cs typeface="Work Sans"/>
                <a:sym typeface="Work Sans"/>
              </a:rPr>
              <a:t>Digital wallets like Zindigi offer health-check micro-insurance, subject to SECP approval.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5E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879901" cy="10287000"/>
            <a:chOff x="0" y="0"/>
            <a:chExt cx="75849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8493" cy="2709333"/>
            </a:xfrm>
            <a:custGeom>
              <a:avLst/>
              <a:gdLst/>
              <a:ahLst/>
              <a:cxnLst/>
              <a:rect r="r" b="b" t="t" l="l"/>
              <a:pathLst>
                <a:path h="2709333" w="758493">
                  <a:moveTo>
                    <a:pt x="0" y="0"/>
                  </a:moveTo>
                  <a:lnTo>
                    <a:pt x="758493" y="0"/>
                  </a:lnTo>
                  <a:lnTo>
                    <a:pt x="75849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58492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840711"/>
            <a:ext cx="2879901" cy="9360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639"/>
              </a:lnSpc>
              <a:spcBef>
                <a:spcPct val="0"/>
              </a:spcBef>
            </a:pPr>
            <a:r>
              <a:rPr lang="en-US" b="true" sz="7599" strike="noStrike" u="none">
                <a:solidFill>
                  <a:srgbClr val="E65E07">
                    <a:alpha val="29804"/>
                  </a:srgbClr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F</a:t>
            </a:r>
          </a:p>
          <a:p>
            <a:pPr algn="l" marL="0" indent="0" lvl="0">
              <a:lnSpc>
                <a:spcPts val="10639"/>
              </a:lnSpc>
              <a:spcBef>
                <a:spcPct val="0"/>
              </a:spcBef>
            </a:pPr>
            <a:r>
              <a:rPr lang="en-US" b="true" sz="7599" strike="noStrike" u="none">
                <a:solidFill>
                  <a:srgbClr val="E65E07">
                    <a:alpha val="29804"/>
                  </a:srgbClr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I</a:t>
            </a:r>
          </a:p>
          <a:p>
            <a:pPr algn="l" marL="0" indent="0" lvl="0">
              <a:lnSpc>
                <a:spcPts val="10639"/>
              </a:lnSpc>
              <a:spcBef>
                <a:spcPct val="0"/>
              </a:spcBef>
            </a:pPr>
            <a:r>
              <a:rPr lang="en-US" b="true" sz="7599" strike="noStrike" u="none">
                <a:solidFill>
                  <a:srgbClr val="E65E07">
                    <a:alpha val="29804"/>
                  </a:srgbClr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N</a:t>
            </a:r>
          </a:p>
          <a:p>
            <a:pPr algn="l" marL="0" indent="0" lvl="0">
              <a:lnSpc>
                <a:spcPts val="10639"/>
              </a:lnSpc>
              <a:spcBef>
                <a:spcPct val="0"/>
              </a:spcBef>
            </a:pPr>
            <a:r>
              <a:rPr lang="en-US" b="true" sz="7599" strike="noStrike" u="none">
                <a:solidFill>
                  <a:srgbClr val="E65E07">
                    <a:alpha val="29804"/>
                  </a:srgbClr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A</a:t>
            </a:r>
          </a:p>
          <a:p>
            <a:pPr algn="l" marL="0" indent="0" lvl="0">
              <a:lnSpc>
                <a:spcPts val="10639"/>
              </a:lnSpc>
              <a:spcBef>
                <a:spcPct val="0"/>
              </a:spcBef>
            </a:pPr>
            <a:r>
              <a:rPr lang="en-US" b="true" sz="7599" strike="noStrike" u="none">
                <a:solidFill>
                  <a:srgbClr val="E65E07">
                    <a:alpha val="29804"/>
                  </a:srgbClr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N</a:t>
            </a:r>
          </a:p>
          <a:p>
            <a:pPr algn="l" marL="0" indent="0" lvl="0">
              <a:lnSpc>
                <a:spcPts val="10639"/>
              </a:lnSpc>
              <a:spcBef>
                <a:spcPct val="0"/>
              </a:spcBef>
            </a:pPr>
            <a:r>
              <a:rPr lang="en-US" b="true" sz="7599" strike="noStrike" u="none">
                <a:solidFill>
                  <a:srgbClr val="E65E07">
                    <a:alpha val="29804"/>
                  </a:srgbClr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C</a:t>
            </a:r>
          </a:p>
          <a:p>
            <a:pPr algn="l" marL="0" indent="0" lvl="0">
              <a:lnSpc>
                <a:spcPts val="10639"/>
              </a:lnSpc>
              <a:spcBef>
                <a:spcPct val="0"/>
              </a:spcBef>
            </a:pPr>
            <a:r>
              <a:rPr lang="en-US" b="true" sz="7599" strike="noStrike" u="none">
                <a:solidFill>
                  <a:srgbClr val="E65E07">
                    <a:alpha val="29804"/>
                  </a:srgbClr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E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41780" y="1925503"/>
            <a:ext cx="13757742" cy="6435995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3718649" y="3860380"/>
            <a:ext cx="2015061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~50 PKR (Zindigi QR)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0462" y="4619625"/>
            <a:ext cx="2015061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40% Pharmacy (~20 PKR)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11150" y="6200265"/>
            <a:ext cx="2015061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60% Tib-e-Nijat (~30 PKR)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15523" y="5408507"/>
            <a:ext cx="2015061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25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~30K PKR/mo (20/day)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65E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2332053"/>
            <a:ext cx="18288000" cy="0"/>
          </a:xfrm>
          <a:prstGeom prst="line">
            <a:avLst/>
          </a:prstGeom>
          <a:ln cap="flat" w="38100">
            <a:solidFill>
              <a:srgbClr val="EDE5DE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384402" y="3711315"/>
          <a:ext cx="15500145" cy="5562600"/>
        </p:xfrm>
        <a:graphic>
          <a:graphicData uri="http://schemas.openxmlformats.org/drawingml/2006/table">
            <a:tbl>
              <a:tblPr/>
              <a:tblGrid>
                <a:gridCol w="2142165"/>
                <a:gridCol w="8191265"/>
                <a:gridCol w="5166715"/>
              </a:tblGrid>
              <a:tr h="102267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b="true" sz="2399">
                          <a:solidFill>
                            <a:srgbClr val="1A2526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MONTH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b="true" sz="2399">
                          <a:solidFill>
                            <a:srgbClr val="1A2526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ACTIVITY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b="true" sz="2399">
                          <a:solidFill>
                            <a:srgbClr val="1A2526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OUTCOME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E"/>
                    </a:solidFill>
                  </a:tcPr>
                </a:tc>
              </a:tr>
              <a:tr h="1366756"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 strike="noStrike" u="none">
                          <a:solidFill>
                            <a:srgbClr val="1A2526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 1-3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 strike="noStrike" u="none">
                          <a:solidFill>
                            <a:srgbClr val="1A2526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Ethics Approval &amp; ECG Trial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 strike="noStrike" u="none">
                          <a:solidFill>
                            <a:srgbClr val="1A2526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100-200 patients tested vs. clinical ECG (target ±2 BPM)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6756"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 strike="noStrike" u="none">
                          <a:solidFill>
                            <a:srgbClr val="1A2526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 4-6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 strike="noStrike" u="none">
                          <a:solidFill>
                            <a:srgbClr val="1A2526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Native Village Pharmacy Trial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 strike="noStrike" u="none">
                          <a:solidFill>
                            <a:srgbClr val="1A2526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App trial in our native villages (no stations yet, real results)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6411"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 strike="noStrike" u="none">
                          <a:solidFill>
                            <a:srgbClr val="1A2526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 7-12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 strike="noStrike" u="none">
                          <a:solidFill>
                            <a:srgbClr val="1A2526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Nearby Towns &amp; Partner Scale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 strike="noStrike" u="none">
                          <a:solidFill>
                            <a:srgbClr val="1A2526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First stations live in nearby towns; 1-2 doctor apps &amp; Zindigi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A2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0" y="9414927"/>
            <a:ext cx="18288000" cy="872073"/>
            <a:chOff x="0" y="0"/>
            <a:chExt cx="4816593" cy="2296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29682"/>
            </a:xfrm>
            <a:custGeom>
              <a:avLst/>
              <a:gdLst/>
              <a:ahLst/>
              <a:cxnLst/>
              <a:rect r="r" b="b" t="t" l="l"/>
              <a:pathLst>
                <a:path h="22968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29682"/>
                  </a:lnTo>
                  <a:lnTo>
                    <a:pt x="0" y="229682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6593" cy="27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84402" y="-105110"/>
            <a:ext cx="15519195" cy="220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18"/>
              </a:lnSpc>
              <a:spcBef>
                <a:spcPct val="0"/>
              </a:spcBef>
            </a:pPr>
            <a:r>
              <a:rPr lang="en-US" b="true" sz="12798" strike="noStrike" u="none">
                <a:solidFill>
                  <a:srgbClr val="EDE5DE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ROADMAP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DE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3500" y="3790950"/>
            <a:ext cx="15621000" cy="201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90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1A2526"/>
                </a:solidFill>
                <a:latin typeface="Stinger Fit"/>
                <a:ea typeface="Stinger Fit"/>
                <a:cs typeface="Stinger Fit"/>
                <a:sym typeface="Stinger Fit"/>
              </a:rPr>
              <a:t>Asking for 2,000,000 PKR: 45% (900k PKR) for first pharmacy stations (tablets, setup, training), 30% (600k PKR) for hospital ECG clinical trial &amp; ethics approval, and 25% (500k PKR) for DRAP regulation, legal &amp; doctor/wallet partnerships. Team: Ahmad Ali (Business), Sachin Kumar (Tech &amp; Demo), Muhammad Uzair (Research &amp; Validation).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0" y="2226864"/>
            <a:ext cx="18288000" cy="0"/>
          </a:xfrm>
          <a:prstGeom prst="line">
            <a:avLst/>
          </a:prstGeom>
          <a:ln cap="flat" w="38100">
            <a:solidFill>
              <a:srgbClr val="1A25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248964"/>
            <a:ext cx="16230600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b="true" sz="9999" strike="noStrike" u="none">
                <a:solidFill>
                  <a:srgbClr val="1A2526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OUR ASK: 2M PKR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0" y="9715497"/>
            <a:ext cx="18288000" cy="0"/>
          </a:xfrm>
          <a:prstGeom prst="line">
            <a:avLst/>
          </a:prstGeom>
          <a:ln cap="flat" w="38100">
            <a:solidFill>
              <a:srgbClr val="1A252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76617"/>
            <a:ext cx="18288000" cy="3994736"/>
            <a:chOff x="0" y="0"/>
            <a:chExt cx="4816593" cy="1052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52111"/>
            </a:xfrm>
            <a:custGeom>
              <a:avLst/>
              <a:gdLst/>
              <a:ahLst/>
              <a:cxnLst/>
              <a:rect r="r" b="b" t="t" l="l"/>
              <a:pathLst>
                <a:path h="105211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52111"/>
                  </a:lnTo>
                  <a:lnTo>
                    <a:pt x="0" y="1052111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110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092166"/>
            <a:ext cx="18288000" cy="194834"/>
            <a:chOff x="0" y="0"/>
            <a:chExt cx="4816593" cy="513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1314"/>
            </a:xfrm>
            <a:custGeom>
              <a:avLst/>
              <a:gdLst/>
              <a:ahLst/>
              <a:cxnLst/>
              <a:rect r="r" b="b" t="t" l="l"/>
              <a:pathLst>
                <a:path h="5131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1314"/>
                  </a:lnTo>
                  <a:lnTo>
                    <a:pt x="0" y="51314"/>
                  </a:lnTo>
                  <a:close/>
                </a:path>
              </a:pathLst>
            </a:custGeom>
            <a:solidFill>
              <a:srgbClr val="E65E0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16593" cy="108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8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9806388"/>
            <a:ext cx="18288000" cy="0"/>
          </a:xfrm>
          <a:prstGeom prst="line">
            <a:avLst/>
          </a:prstGeom>
          <a:ln cap="flat" w="38100">
            <a:solidFill>
              <a:srgbClr val="1A25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363049" y="5968589"/>
            <a:ext cx="15561902" cy="129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99"/>
              </a:lnSpc>
              <a:spcBef>
                <a:spcPct val="0"/>
              </a:spcBef>
            </a:pPr>
            <a:r>
              <a:rPr lang="en-US" b="true" sz="9999" strike="noStrike" u="none">
                <a:solidFill>
                  <a:srgbClr val="1A2526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THANK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22132" y="7235414"/>
            <a:ext cx="9043736" cy="122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7"/>
              </a:lnSpc>
              <a:spcBef>
                <a:spcPct val="0"/>
              </a:spcBef>
            </a:pPr>
            <a:r>
              <a:rPr lang="en-US" sz="2549" strike="noStrike" u="none">
                <a:solidFill>
                  <a:srgbClr val="1A2526"/>
                </a:solidFill>
                <a:latin typeface="Stinger Fit"/>
                <a:ea typeface="Stinger Fit"/>
                <a:cs typeface="Stinger Fit"/>
                <a:sym typeface="Stinger Fit"/>
              </a:rPr>
              <a:t>INSTANT, AFFORDABLE SCREENING AT THE NEIGHBORHOOD PHARMACY — NO SPECIAL HARDWARE, NO VIDEO STORED.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57750" y="5314950"/>
            <a:ext cx="8572500" cy="432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58"/>
              </a:lnSpc>
              <a:spcBef>
                <a:spcPct val="0"/>
              </a:spcBef>
            </a:pPr>
            <a:r>
              <a:rPr lang="en-US" sz="2470" spc="24" strike="noStrike" u="none">
                <a:solidFill>
                  <a:srgbClr val="1A2526"/>
                </a:solidFill>
                <a:latin typeface="Stinger Fit"/>
                <a:ea typeface="Stinger Fit"/>
                <a:cs typeface="Stinger Fit"/>
                <a:sym typeface="Stinger Fit"/>
              </a:rPr>
              <a:t>Tib-e-Nijat (</a:t>
            </a:r>
            <a:r>
              <a:rPr lang="ar-EG" sz="2470" spc="24" strike="noStrike" u="none">
                <a:solidFill>
                  <a:srgbClr val="1A2526"/>
                </a:solidFill>
                <a:latin typeface="Stinger Fit"/>
                <a:ea typeface="Stinger Fit"/>
                <a:cs typeface="Stinger Fit"/>
                <a:sym typeface="Stinger Fit"/>
                <a:rtl val="true"/>
              </a:rPr>
              <a:t>طبِ نجات</a:t>
            </a:r>
            <a:r>
              <a:rPr lang="en-US" sz="2470" spc="24" strike="noStrike" u="none">
                <a:solidFill>
                  <a:srgbClr val="1A2526"/>
                </a:solidFill>
                <a:latin typeface="Stinger Fit"/>
                <a:ea typeface="Stinger Fit"/>
                <a:cs typeface="Stinger Fit"/>
                <a:sym typeface="Stinger Fit"/>
              </a:rPr>
              <a:t>) • Ahmad · Sachin · Uzair</a:t>
            </a:r>
          </a:p>
        </p:txBody>
      </p:sp>
      <p:sp>
        <p:nvSpPr>
          <p:cNvPr name="Freeform 12" id="12" descr="Original Template Closing Team Illustration"/>
          <p:cNvSpPr/>
          <p:nvPr/>
        </p:nvSpPr>
        <p:spPr>
          <a:xfrm flipH="false" flipV="false" rot="0">
            <a:off x="5715000" y="431482"/>
            <a:ext cx="6858000" cy="4114800"/>
          </a:xfrm>
          <a:custGeom>
            <a:avLst/>
            <a:gdLst/>
            <a:ahLst/>
            <a:cxnLst/>
            <a:rect r="r" b="b" t="t" l="l"/>
            <a:pathLst>
              <a:path h="4114800" w="6858000">
                <a:moveTo>
                  <a:pt x="0" y="0"/>
                </a:moveTo>
                <a:lnTo>
                  <a:pt x="6858000" y="0"/>
                </a:lnTo>
                <a:lnTo>
                  <a:pt x="6858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 descr="Tib-e-Nijat Closing Emblem Mark"/>
          <p:cNvSpPr/>
          <p:nvPr/>
        </p:nvSpPr>
        <p:spPr>
          <a:xfrm flipH="false" flipV="false" rot="0">
            <a:off x="8667750" y="4484184"/>
            <a:ext cx="952500" cy="952500"/>
          </a:xfrm>
          <a:custGeom>
            <a:avLst/>
            <a:gdLst/>
            <a:ahLst/>
            <a:cxnLst/>
            <a:rect r="r" b="b" t="t" l="l"/>
            <a:pathLst>
              <a:path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DAHY9wIsTgM</dc:identifier>
  <dcterms:modified xsi:type="dcterms:W3CDTF">2011-08-01T06:04:30Z</dcterms:modified>
  <cp:revision>1</cp:revision>
  <dc:title>Tib-e-Nijat Pitch Deck - Zindigi Prize</dc:title>
</cp:coreProperties>
</file>